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  <p:sldId id="278" r:id="rId25"/>
    <p:sldId id="279" r:id="rId26"/>
    <p:sldId id="280" r:id="rId27"/>
  </p:sldIdLst>
  <p:sldSz cx="14630400" cy="8229600"/>
  <p:notesSz cx="8229600" cy="14630400"/>
  <p:embeddedFontLst>
    <p:embeddedFont>
      <p:font typeface="Instrument Sans Medium" panose="020B0604020202020204" charset="0"/>
      <p:regular r:id="rId29"/>
    </p:embeddedFont>
    <p:embeddedFont>
      <p:font typeface="Instrument Sans Semi Bold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2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transition spd="slow">
    <p:push dir="u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31500"/>
            <a:ext cx="94441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Wellbeing Landscape in Jordan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31005"/>
            <a:ext cx="812696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Where Data Meets Human Experience</a:t>
            </a:r>
            <a:endParaRPr lang="en-US" sz="35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8A1D8-A669-1FE1-257B-E806A8293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3496" y="6500749"/>
            <a:ext cx="1600423" cy="1619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6F61E5-E3A2-5599-FD45-377AEBF4D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5206" y="6610124"/>
            <a:ext cx="1600423" cy="161947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7C84F7C-B838-09B3-3656-27B87F4322CC}"/>
              </a:ext>
            </a:extLst>
          </p:cNvPr>
          <p:cNvSpPr/>
          <p:nvPr/>
        </p:nvSpPr>
        <p:spPr>
          <a:xfrm>
            <a:off x="13045629" y="457200"/>
            <a:ext cx="713678" cy="708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9888"/>
            <a:ext cx="89701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did we want to understand?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Are all students experiencing wellbeing the same way?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factors place some students at higher risk?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Can resilience protect students from stress and hardship?</a:t>
            </a: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5FB20F-D635-7149-673D-B8E8540D2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242" y="6251301"/>
            <a:ext cx="1095528" cy="647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93B461-FD2A-5A30-1D72-A15938839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1596" y="6421524"/>
            <a:ext cx="1695687" cy="1752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15CFB4-7652-2177-D46C-F1D1BD12D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4704" y="6349919"/>
            <a:ext cx="1600423" cy="161947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142236A-EC15-AA16-D5FB-A6FFAF0915D4}"/>
              </a:ext>
            </a:extLst>
          </p:cNvPr>
          <p:cNvSpPr/>
          <p:nvPr/>
        </p:nvSpPr>
        <p:spPr>
          <a:xfrm>
            <a:off x="13045629" y="457200"/>
            <a:ext cx="713678" cy="708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111104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Let's first look at what the data is telling us</a:t>
            </a:r>
            <a:endParaRPr lang="en-US" sz="4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97A926-4B9A-0817-55B2-39EFE228A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4529" y="6500749"/>
            <a:ext cx="2129390" cy="161947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C57BDDD-3F75-DA2F-3EA2-3AE8ED040BD5}"/>
              </a:ext>
            </a:extLst>
          </p:cNvPr>
          <p:cNvSpPr/>
          <p:nvPr/>
        </p:nvSpPr>
        <p:spPr>
          <a:xfrm>
            <a:off x="13045629" y="457200"/>
            <a:ext cx="713678" cy="708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58891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Data at a Glance</a:t>
            </a:r>
            <a:endParaRPr lang="en-US" sz="8900" dirty="0"/>
          </a:p>
        </p:txBody>
      </p:sp>
      <p:sp>
        <p:nvSpPr>
          <p:cNvPr id="3" name="Shape 1"/>
          <p:cNvSpPr/>
          <p:nvPr/>
        </p:nvSpPr>
        <p:spPr>
          <a:xfrm>
            <a:off x="793790" y="4430197"/>
            <a:ext cx="4196358" cy="1240393"/>
          </a:xfrm>
          <a:prstGeom prst="roundRect">
            <a:avLst>
              <a:gd name="adj" fmla="val 16458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51084" y="4687491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1,000 participants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216962" y="4430197"/>
            <a:ext cx="4196358" cy="1240393"/>
          </a:xfrm>
          <a:prstGeom prst="roundRect">
            <a:avLst>
              <a:gd name="adj" fmla="val 16458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74256" y="4687491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Multiple wellbeing indicators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9640133" y="4430197"/>
            <a:ext cx="4196358" cy="1240393"/>
          </a:xfrm>
          <a:prstGeom prst="roundRect">
            <a:avLst>
              <a:gd name="adj" fmla="val 16458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97427" y="4687491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Captures psychological and socioeconomic aspects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D6656A-D974-12B6-E504-71CAB1EB3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126" y="6500749"/>
            <a:ext cx="2261366" cy="1619476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9B443DC9-3F57-375A-3262-D89084B046A0}"/>
              </a:ext>
            </a:extLst>
          </p:cNvPr>
          <p:cNvSpPr/>
          <p:nvPr/>
        </p:nvSpPr>
        <p:spPr>
          <a:xfrm>
            <a:off x="13045629" y="457200"/>
            <a:ext cx="713678" cy="708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949" y="895282"/>
            <a:ext cx="6912769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Are Wellbeing Scores Distributed?</a:t>
            </a:r>
            <a:endParaRPr lang="en-US" sz="2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1F9E52-A0F5-7B73-08B2-4FA94A125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4703" y="6610124"/>
            <a:ext cx="1922002" cy="1619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3BCA9B-1A9E-1559-5F23-D7A2F0FB6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696" y="1712522"/>
            <a:ext cx="13536914" cy="628737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DA35639-003C-3D2B-82CF-CAB51AA399AD}"/>
              </a:ext>
            </a:extLst>
          </p:cNvPr>
          <p:cNvSpPr/>
          <p:nvPr/>
        </p:nvSpPr>
        <p:spPr>
          <a:xfrm>
            <a:off x="13045629" y="457200"/>
            <a:ext cx="713678" cy="708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0105"/>
            <a:ext cx="8373785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Do Wellbeing Factors Relate to Each Other?</a:t>
            </a:r>
            <a:endParaRPr lang="en-US" sz="2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ED3B9-0652-E2E8-EF48-997AFA539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6107" y="7635711"/>
            <a:ext cx="1884293" cy="522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AE843D-6234-D0FF-7BC5-EB0594B94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92" y="1583473"/>
            <a:ext cx="13663763" cy="553193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C844189A-BC35-F485-E637-AB6692EFBEBF}"/>
              </a:ext>
            </a:extLst>
          </p:cNvPr>
          <p:cNvSpPr/>
          <p:nvPr/>
        </p:nvSpPr>
        <p:spPr>
          <a:xfrm>
            <a:off x="13045629" y="457200"/>
            <a:ext cx="713678" cy="708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578" y="770929"/>
            <a:ext cx="13042821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Here, we're comparing psychological distress levels between male and female students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93790" y="6065639"/>
            <a:ext cx="130428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Welch t-test was applied and showed a statistically significant difference between males and females (</a:t>
            </a: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 = 0.001</a:t>
            </a: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).</a:t>
            </a:r>
            <a:endParaRPr lang="ar-EG" sz="16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difference in average distress levels is small (Male = </a:t>
            </a: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8.76</a:t>
            </a: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Female = </a:t>
            </a: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9.92</a:t>
            </a: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).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D2087A-1068-9FCC-E7BE-C9E6B0556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3713" y="7656890"/>
            <a:ext cx="1876687" cy="457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FD1B1C-0A91-576B-2991-6C9E0EA8C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305" y="2309560"/>
            <a:ext cx="5925377" cy="361047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D361E5F-EE21-3F59-EF40-762B64895C32}"/>
              </a:ext>
            </a:extLst>
          </p:cNvPr>
          <p:cNvSpPr/>
          <p:nvPr/>
        </p:nvSpPr>
        <p:spPr>
          <a:xfrm>
            <a:off x="13045629" y="457200"/>
            <a:ext cx="713678" cy="708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0705" y="224930"/>
            <a:ext cx="12957810" cy="68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Income Relates to Food Insecurity</a:t>
            </a:r>
            <a:endParaRPr lang="en-US" sz="4300" dirty="0"/>
          </a:p>
        </p:txBody>
      </p:sp>
      <p:pic>
        <p:nvPicPr>
          <p:cNvPr id="10" name="Picture 9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F12E27B-7743-A04B-AA2A-9C6DD8898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809299"/>
            <a:ext cx="8129241" cy="3840480"/>
          </a:xfrm>
          <a:prstGeom prst="rect">
            <a:avLst/>
          </a:prstGeom>
        </p:spPr>
      </p:pic>
      <p:pic>
        <p:nvPicPr>
          <p:cNvPr id="12" name="Picture 11" descr="A graph of a bar graph&#10;&#10;AI-generated content may be incorrect.">
            <a:extLst>
              <a:ext uri="{FF2B5EF4-FFF2-40B4-BE49-F238E27FC236}">
                <a16:creationId xmlns:a16="http://schemas.microsoft.com/office/drawing/2014/main" id="{29537A38-E6B9-ADEE-223C-52CEC0D9A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498" y="4389120"/>
            <a:ext cx="8251902" cy="384048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DF28DB-1C99-65F8-5A84-4202B76F842F}"/>
              </a:ext>
            </a:extLst>
          </p:cNvPr>
          <p:cNvSpPr/>
          <p:nvPr/>
        </p:nvSpPr>
        <p:spPr>
          <a:xfrm>
            <a:off x="1048216" y="5234148"/>
            <a:ext cx="4233746" cy="2301612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Personal Income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74E3D8-E24A-6413-F88E-D6C8D070B58C}"/>
              </a:ext>
            </a:extLst>
          </p:cNvPr>
          <p:cNvSpPr/>
          <p:nvPr/>
        </p:nvSpPr>
        <p:spPr>
          <a:xfrm>
            <a:off x="13045629" y="457200"/>
            <a:ext cx="713678" cy="708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DF28DB-1C99-65F8-5A84-4202B76F842F}"/>
              </a:ext>
            </a:extLst>
          </p:cNvPr>
          <p:cNvSpPr/>
          <p:nvPr/>
        </p:nvSpPr>
        <p:spPr>
          <a:xfrm>
            <a:off x="8894957" y="1498583"/>
            <a:ext cx="4233746" cy="230161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House Hold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2286" y="3760351"/>
            <a:ext cx="66257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Questions We Asked</a:t>
            </a:r>
            <a:endParaRPr lang="en-US" sz="4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A52D5-285C-0C8B-5CBA-C8EAEBABF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554" y="7533744"/>
            <a:ext cx="2476846" cy="57158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1D3AC12-15F0-3439-33EC-6AEAF4842163}"/>
              </a:ext>
            </a:extLst>
          </p:cNvPr>
          <p:cNvSpPr/>
          <p:nvPr/>
        </p:nvSpPr>
        <p:spPr>
          <a:xfrm>
            <a:off x="13045629" y="457200"/>
            <a:ext cx="713678" cy="708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4561"/>
            <a:ext cx="13042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Q1—Can we identify distinct latent psychological–behavioral profiles among college students?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784527"/>
            <a:ext cx="4196358" cy="1240393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4784527"/>
            <a:ext cx="121920" cy="1240393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5041821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Students do not form one homogeneous group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4784527"/>
            <a:ext cx="4196358" cy="1240393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86482" y="4784527"/>
            <a:ext cx="121920" cy="1240393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65696" y="5041821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Distinct psychological patterns clearly emerge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4784527"/>
            <a:ext cx="4196358" cy="1240393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9653" y="4784527"/>
            <a:ext cx="121920" cy="1240393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88868" y="5041821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These patterns reflect different levels of risk and resilience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C5D05D-AC8A-CC1B-0AC1-E4872BBB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1651" y="7533744"/>
            <a:ext cx="2476846" cy="57158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66E49D93-D9EA-4465-4555-ADC045D47E83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3338"/>
            <a:ext cx="13042821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On the left, we see the overall distribution of students when we combine mental distress, resilience, and stress mindset into one space.</a:t>
            </a:r>
            <a:endParaRPr lang="en-US" sz="2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EF186B-A5B6-2C32-1898-438AD7B73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554" y="7543170"/>
            <a:ext cx="2476846" cy="571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F837D7-6D39-375A-0B36-9B91B5C43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049" y="3205391"/>
            <a:ext cx="12088912" cy="445832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3B546D6-E370-7D62-4B3E-787C5BD35025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949" y="975199"/>
            <a:ext cx="778490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Psychological Profiles and Group Differences</a:t>
            </a:r>
            <a:endParaRPr lang="en-US" sz="2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660D70-F5C8-6F89-0A0E-8550CF280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1" y="2351804"/>
            <a:ext cx="12631913" cy="54490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DB13D7-6EBA-AFDA-A463-17BE07B25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303" y="3857589"/>
            <a:ext cx="2457793" cy="514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A999C5-2267-D37C-E884-C65838F1F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303" y="3857589"/>
            <a:ext cx="2457793" cy="5144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EC3BA6-4EDF-9980-D9FF-034BA953C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2607" y="7715178"/>
            <a:ext cx="2457793" cy="51442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C03B9358-7B05-065A-59D6-401EB3CB5F1B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12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6888"/>
            <a:ext cx="1038201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Are These Differences Real?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41587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 confirm what we saw visually, we tested whether these differences are real or just apparent.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7767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Statistical testing showed that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three groups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differ clearly and consistently across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mental distress, resilience, and stress mindset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32A523-9A84-0869-C77D-DFD77D427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1750" y="7647164"/>
            <a:ext cx="2457793" cy="51442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9389DDD2-F7E5-7B83-1911-FD1608B4B92B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51572"/>
            <a:ext cx="13042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Q2-Does the experience of food insecurity significantly differ across distinct psychological-behavioral profiles?</a:t>
            </a:r>
            <a:endParaRPr lang="en-US" sz="4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DFD8A9-CFBB-F8D4-7524-87586CDE7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0604" y="7618884"/>
            <a:ext cx="2457793" cy="51442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6D660B8-9B8A-E631-7AB4-030943E276CA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14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631BBC-1E55-6FA8-1EDB-C37F5738E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1750" y="7715178"/>
            <a:ext cx="2457793" cy="514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7FD05B-B2B7-CFCC-BA52-746CE7A41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00" y="1423612"/>
            <a:ext cx="14327599" cy="53823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0D6BBEF-8D98-7AD2-A9FC-540CCB91AE2F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773" y="497281"/>
            <a:ext cx="727936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Food Insecurity and Psychological Profiles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2388" y="1073957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Analysis of the relationship between food insecurity and distinct psychological profiles.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35292" y="7363530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Chi-square testing demonstrated a significant difference in food insecurity across psychological profiles (</a:t>
            </a: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 &lt; 0.001</a:t>
            </a: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).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25781C-1DC6-9539-520B-DB14F3167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2607" y="7715178"/>
            <a:ext cx="2457793" cy="514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42BC01-0CEE-1F43-7F3B-450896092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668" y="1105079"/>
            <a:ext cx="9604490" cy="575977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AF3C4BE-C479-2076-129C-970C19F7C4FD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0602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Q3-Are certain demographic patterns linked to psychological risk or resilience?</a:t>
            </a:r>
            <a:endParaRPr lang="en-US" sz="4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79512F-05B2-AF07-757B-E560CA49C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009" y="7734231"/>
            <a:ext cx="2010056" cy="49536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6D90C37-F1CA-CB4A-5114-4CD466737201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842277"/>
            <a:ext cx="130428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Psychological risk and </a:t>
            </a:r>
            <a:endParaRPr lang="ar-EG" sz="3750" dirty="0">
              <a:solidFill>
                <a:srgbClr val="091C53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resilience are closely </a:t>
            </a:r>
            <a:endParaRPr lang="ar-EG" sz="3750" dirty="0">
              <a:solidFill>
                <a:srgbClr val="091C53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linked to economic and</a:t>
            </a:r>
            <a:endParaRPr lang="ar-EG" sz="3750" dirty="0">
              <a:solidFill>
                <a:srgbClr val="091C53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academic factors</a:t>
            </a:r>
            <a:endParaRPr lang="en-US" sz="3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04BCD-959B-05F2-6EB4-D10185EC6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1750" y="7590603"/>
            <a:ext cx="2457793" cy="514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1DD17A-D4CD-8981-52C6-AB531304C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29" y="4425347"/>
            <a:ext cx="9171051" cy="36796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19AED2-B5AA-0B78-ABAE-34CA32517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898" y="665443"/>
            <a:ext cx="8086820" cy="375990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72ACB3A-71C5-38EB-D0AB-B3FD2F931D6D}"/>
              </a:ext>
            </a:extLst>
          </p:cNvPr>
          <p:cNvSpPr/>
          <p:nvPr/>
        </p:nvSpPr>
        <p:spPr>
          <a:xfrm>
            <a:off x="13434274" y="11152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18</a:t>
            </a:r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398038"/>
            <a:ext cx="6407944" cy="1603296"/>
          </a:xfrm>
          <a:prstGeom prst="roundRect">
            <a:avLst>
              <a:gd name="adj" fmla="val 912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3310" y="2398038"/>
            <a:ext cx="121920" cy="1603296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2524" y="2655332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 the high-risk group, we consistently see a combination of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lower household income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lower academic performance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28548" y="2398038"/>
            <a:ext cx="6408063" cy="1603296"/>
          </a:xfrm>
          <a:prstGeom prst="roundRect">
            <a:avLst>
              <a:gd name="adj" fmla="val 912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98067" y="2398038"/>
            <a:ext cx="121920" cy="1603296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7282" y="2655332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These factors tend to cluster together rather than appear in isolation.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4228148"/>
            <a:ext cx="6407944" cy="1603296"/>
          </a:xfrm>
          <a:prstGeom prst="roundRect">
            <a:avLst>
              <a:gd name="adj" fmla="val 912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3310" y="4228148"/>
            <a:ext cx="121920" cy="1603296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2524" y="4485442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 contrast, the resilient thriving group is strongly associated with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higher income levels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higher GPAs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4228148"/>
            <a:ext cx="6408063" cy="1603296"/>
          </a:xfrm>
          <a:prstGeom prst="roundRect">
            <a:avLst>
              <a:gd name="adj" fmla="val 912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98067" y="4228148"/>
            <a:ext cx="121920" cy="1603296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7282" y="4485442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suggests that academic success is often supported by both financial stability and psychological resilience.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7D9C31-3B2A-1803-3CC1-EB5BD6E18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3470" y="7672757"/>
            <a:ext cx="2457793" cy="514422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6471408A-4C0A-4DCD-A879-93BED43F9B5F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19</a:t>
            </a: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0816"/>
            <a:ext cx="13042821" cy="278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00"/>
              </a:lnSpc>
              <a:buNone/>
            </a:pPr>
            <a:r>
              <a:rPr lang="en-US" sz="5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Q4-Can resilience protect academic performance under psychological distress and food insecurity?</a:t>
            </a:r>
            <a:endParaRPr lang="en-US" sz="58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385FE-C7F0-390C-8F4E-EB214176D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2607" y="7628311"/>
            <a:ext cx="2457793" cy="51442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A62DF1C-3113-B77E-65E2-5326A5E7BE06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20</a:t>
            </a: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1095"/>
            <a:ext cx="13042821" cy="1271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Resilience Protects Academic Performance Under Psychological Distress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2707481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Psychological distress alone does not fully explain changes in academic performance.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3790" y="3109079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When resilience is low, GPA declines sharply as distress increases.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90" y="3510677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resilience buffers this effect</a:t>
            </a: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helps maintain GPA even at high distress levels.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3790" y="3912275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Statistical analysis confirms this protective effect.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471" y="3922908"/>
            <a:ext cx="6853286" cy="42009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6FF217-3271-AC88-DAF7-72246C049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2897" y="7609457"/>
            <a:ext cx="2457793" cy="514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0E2C80-B178-90D0-E41D-E2FF7DD34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6471" y="3846136"/>
            <a:ext cx="7200140" cy="4383464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632D98D-B46A-0625-C339-53827C02553A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0602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Q5-How do income levels shape students' psychological wellbeing?</a:t>
            </a:r>
            <a:endParaRPr lang="en-US" sz="4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0DFE8E-E407-4336-B337-1A5A8DB5E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0604" y="7715178"/>
            <a:ext cx="2457793" cy="51442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3876971-76E5-0005-2232-84346CB28ACC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53BD08-350E-04DB-1D72-812FD5554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131" y="1523638"/>
            <a:ext cx="9502815" cy="547904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7CBA802-9F78-A921-9EFB-72AEE5F3613C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83743547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93858"/>
            <a:ext cx="130428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Economic Gradient of Psychological Wellbeing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4190048"/>
            <a:ext cx="107633" cy="107633"/>
          </a:xfrm>
          <a:prstGeom prst="roundRect">
            <a:avLst>
              <a:gd name="adj" fmla="val 424777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16806" y="4071580"/>
            <a:ext cx="384500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Psychological wellbeing improves steadily as income levels increase.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231130" y="4190048"/>
            <a:ext cx="107633" cy="107633"/>
          </a:xfrm>
          <a:prstGeom prst="roundRect">
            <a:avLst>
              <a:gd name="adj" fmla="val 424777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54147" y="4071580"/>
            <a:ext cx="3845004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Household income shows a stronger and more consistent association than personal income.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668470" y="4190048"/>
            <a:ext cx="107633" cy="107633"/>
          </a:xfrm>
          <a:prstGeom prst="roundRect">
            <a:avLst>
              <a:gd name="adj" fmla="val 424777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991487" y="4071580"/>
            <a:ext cx="3845123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Economic stability provides the baseline for resilience and mental wellbeing.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93790" y="5348407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Chi-square tests confirm that both personal and household income are significantly associated with wellbeing profiles (</a:t>
            </a:r>
            <a:r>
              <a:rPr lang="en-US" sz="16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 &lt; 0.01</a:t>
            </a: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).</a:t>
            </a:r>
            <a:endParaRPr lang="en-US" sz="16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53E943-78CC-94BA-3290-6FC01814B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1751" y="7618884"/>
            <a:ext cx="2457793" cy="51442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40DBB83-895E-1D87-951F-9504C9D29BCE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24</a:t>
            </a:r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9808"/>
            <a:ext cx="8900041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Policy Actions for the Ministry of Health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3257788"/>
            <a:ext cx="433745" cy="433745"/>
          </a:xfrm>
          <a:prstGeom prst="roundRect">
            <a:avLst>
              <a:gd name="adj" fmla="val 4000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6001" y="3293864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420297" y="3323987"/>
            <a:ext cx="3560445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 High-Risk Students Early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420297" y="4042053"/>
            <a:ext cx="3560445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 a risk-screening framework combining psychological distress and food insecurity indicators.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4260" y="5411630"/>
            <a:ext cx="3560445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Prioritize students in the High-Risk vulnerable profile for early intervention.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21724" y="3257788"/>
            <a:ext cx="433745" cy="433745"/>
          </a:xfrm>
          <a:prstGeom prst="roundRect">
            <a:avLst>
              <a:gd name="adj" fmla="val 4000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93935" y="3293864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848231" y="3323987"/>
            <a:ext cx="3560445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Invest in Resilience-Building Programs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848231" y="4042053"/>
            <a:ext cx="3560445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Introduce resilience and stress-management training as preventive mental health tools.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48231" y="5034558"/>
            <a:ext cx="356044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 on students exposed to high psychological distress.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49658" y="3257788"/>
            <a:ext cx="433745" cy="433745"/>
          </a:xfrm>
          <a:prstGeom prst="roundRect">
            <a:avLst>
              <a:gd name="adj" fmla="val 4000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21870" y="3293864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276165" y="3323987"/>
            <a:ext cx="3560445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Integrate Food Security with Mental Health Services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10276165" y="4042053"/>
            <a:ext cx="3560445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Coordinate with universities to provide targeted food support programs.</a:t>
            </a:r>
            <a:endParaRPr lang="en-US" sz="15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BCC315-71A7-631B-ADA7-97A28DF90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2607" y="7609457"/>
            <a:ext cx="2457793" cy="514422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24A9291E-3BA9-D7E5-B663-67DC858D5126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5546" y="3431500"/>
            <a:ext cx="77993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Thank You for Your Attention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677954" y="4231005"/>
            <a:ext cx="92743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i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We welcome your questions and reflections</a:t>
            </a:r>
            <a:endParaRPr lang="en-US" sz="35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0EDD30-076C-73E8-CACF-94967DC92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2897" y="7590603"/>
            <a:ext cx="2457793" cy="51442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E60F5E0-A38A-E34C-2348-1E492FD5BB28}"/>
              </a:ext>
            </a:extLst>
          </p:cNvPr>
          <p:cNvSpPr/>
          <p:nvPr/>
        </p:nvSpPr>
        <p:spPr>
          <a:xfrm>
            <a:off x="13045628" y="457200"/>
            <a:ext cx="1105269" cy="10482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26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670</Words>
  <Application>Microsoft Office PowerPoint</Application>
  <PresentationFormat>Custom</PresentationFormat>
  <Paragraphs>119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Instrument Sans Semi Bold</vt:lpstr>
      <vt:lpstr>Instrument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EYAD FALAH ALNAIMI</cp:lastModifiedBy>
  <cp:revision>7</cp:revision>
  <dcterms:created xsi:type="dcterms:W3CDTF">2025-12-24T11:07:20Z</dcterms:created>
  <dcterms:modified xsi:type="dcterms:W3CDTF">2025-12-24T13:22:06Z</dcterms:modified>
</cp:coreProperties>
</file>